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338" r:id="rId8"/>
    <p:sldId id="339" r:id="rId9"/>
    <p:sldId id="340" r:id="rId10"/>
    <p:sldId id="265" r:id="rId11"/>
    <p:sldId id="266" r:id="rId12"/>
    <p:sldId id="267" r:id="rId13"/>
    <p:sldId id="268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272" r:id="rId23"/>
  </p:sldIdLst>
  <p:sldSz cx="18288000" cy="10287000"/>
  <p:notesSz cx="6858000" cy="9144000"/>
  <p:embeddedFontLst>
    <p:embeddedFont>
      <p:font typeface="Cambria Bold" panose="02040803050406030204" pitchFamily="18" charset="0"/>
      <p:bold r:id="rId24"/>
    </p:embeddedFont>
    <p:embeddedFont>
      <p:font typeface="Franklin Gothic Book" panose="020B0503020102020204" pitchFamily="34" charset="0"/>
      <p:regular r:id="rId25"/>
      <p:italic r:id="rId26"/>
    </p:embeddedFont>
    <p:embeddedFont>
      <p:font typeface="Times New Roman Bold" panose="02020803070505020304" pitchFamily="18" charset="0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29"/>
    <a:srgbClr val="1E41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554" y="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029700"/>
            <a:ext cx="3086100" cy="709612"/>
            <a:chOff x="0" y="0"/>
            <a:chExt cx="4114800" cy="3457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30700" y="0"/>
            <a:ext cx="1257300" cy="1241439"/>
            <a:chOff x="0" y="0"/>
            <a:chExt cx="1676400" cy="1655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744200" y="6507862"/>
            <a:ext cx="8961120" cy="1246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cs typeface="Times New Roman Bold"/>
              </a:rPr>
              <a:t>JHOSPIN D [7376232FT106]</a:t>
            </a:r>
          </a:p>
          <a:p>
            <a:pPr marL="514350" indent="-514350">
              <a:buAutoNum type="arabicPeriod"/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cs typeface="Times New Roman Bold"/>
              </a:rPr>
              <a:t>POOJA S [7376232FT115]</a:t>
            </a:r>
          </a:p>
          <a:p>
            <a:pPr marL="514350" indent="-514350">
              <a:buAutoNum type="arabicPeriod"/>
            </a:pPr>
            <a:r>
              <a:rPr lang="en-US" sz="2700" b="1" dirty="0">
                <a:solidFill>
                  <a:srgbClr val="000000"/>
                </a:solidFill>
                <a:latin typeface="Times New Roman Bold"/>
                <a:cs typeface="Times New Roman Bold"/>
              </a:rPr>
              <a:t>TAMILARASI P [7376232FT120]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69642" y="5950741"/>
            <a:ext cx="3094941" cy="519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1E417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MEMBERS:</a:t>
            </a:r>
            <a:r>
              <a:rPr lang="en-US" sz="2700" dirty="0">
                <a:solidFill>
                  <a:srgbClr val="1E41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BABE56-DFB1-31E0-633E-2D6336E51C63}"/>
              </a:ext>
            </a:extLst>
          </p:cNvPr>
          <p:cNvSpPr txBox="1"/>
          <p:nvPr/>
        </p:nvSpPr>
        <p:spPr>
          <a:xfrm>
            <a:off x="2187295" y="2525587"/>
            <a:ext cx="136623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Health and Energy Monitoring for Women Using CLO 3D and Silk Fabric Integration</a:t>
            </a:r>
            <a:endParaRPr lang="en-US" sz="4800" b="1" dirty="0">
              <a:solidFill>
                <a:srgbClr val="FF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endParaRPr lang="en-IN" sz="4400" dirty="0"/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C67DA86C-0160-EBE2-C138-196810FEAC38}"/>
              </a:ext>
            </a:extLst>
          </p:cNvPr>
          <p:cNvSpPr txBox="1"/>
          <p:nvPr/>
        </p:nvSpPr>
        <p:spPr>
          <a:xfrm>
            <a:off x="420082" y="6265264"/>
            <a:ext cx="309494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1E417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WEBSITE:</a:t>
            </a:r>
            <a:endParaRPr lang="en-US" sz="2700" dirty="0">
              <a:solidFill>
                <a:srgbClr val="1E417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865DBD-F080-87C0-3896-46B651F9D595}"/>
              </a:ext>
            </a:extLst>
          </p:cNvPr>
          <p:cNvSpPr txBox="1"/>
          <p:nvPr/>
        </p:nvSpPr>
        <p:spPr>
          <a:xfrm>
            <a:off x="420082" y="6837131"/>
            <a:ext cx="10049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https://lovable.dev/preview/EfVF6w4yZoCZXkJtHQKxenvWFOtLVXGR</a:t>
            </a: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62000" y="2251727"/>
            <a:ext cx="9315003" cy="6893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undergo continuous biological and hormonal changes that significantly influence their energy levels, emotional state, and daily productivity, especially during menstrual cycles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health and productivity tools follow a one-size-fits-all approach and fail to adapt to individual physiological and cyclic variations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lack of personalization often results in increased stress, fatigue, and reduced health awareness among women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strong need for an intelligent, real-time, and personalized AI-based wellness support system that adapts to individual patterns and supports better health and productivity</a:t>
            </a:r>
          </a:p>
          <a:p>
            <a:pPr marL="271463" lvl="1" algn="just">
              <a:lnSpc>
                <a:spcPts val="3600"/>
              </a:lnSpc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41989" y="1481244"/>
            <a:ext cx="5159256" cy="67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 of the Project ​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4843F1-02F6-AF34-A3E3-EAEC2E6FD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520" y="1819873"/>
            <a:ext cx="7862480" cy="6733786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47722" y="2322257"/>
            <a:ext cx="10209439" cy="609397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experience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 changes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energy, stress, and emotional state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Menstrual cycles and lifestyle stress significantly affect daily productivity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health &amp; productivity tools treat all days 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personalized, real-time support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 to fatigue and burnout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7122" y="1452120"/>
            <a:ext cx="3892081" cy="67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Statement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120359" y="7454807"/>
            <a:ext cx="3057713" cy="363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187" dirty="0">
                <a:solidFill>
                  <a:srgbClr val="000000"/>
                </a:solidFill>
                <a:latin typeface="Times New Roman" panose="02020603050405020304" pitchFamily="18" charset="0"/>
                <a:ea typeface="Glacial Indifference"/>
                <a:cs typeface="Times New Roman" panose="02020603050405020304" pitchFamily="18" charset="0"/>
                <a:sym typeface="Glacial Indifference"/>
              </a:rPr>
              <a:t>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3895390-A1C4-0B55-024D-66832384E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6806" y="2322257"/>
            <a:ext cx="7261194" cy="6093976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33904" y="2450469"/>
            <a:ext cx="8129096" cy="63877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84"/>
              </a:lnSpc>
            </a:pPr>
            <a:endParaRPr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health and energy monitoring system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physiological sensors (heart rate, temperature, activity)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analyzes real-time 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personalized user baselines over time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energy and emotional states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alerts and recommendations through a mobile app</a:t>
            </a:r>
          </a:p>
          <a:p>
            <a:pPr marL="255180" lvl="1" algn="just">
              <a:lnSpc>
                <a:spcPts val="3384"/>
              </a:lnSpc>
            </a:pPr>
            <a:endParaRPr lang="en-US" sz="282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1403" y="1347318"/>
            <a:ext cx="1736396" cy="67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01E970-61A8-8B5F-9931-75601B152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2387311"/>
            <a:ext cx="7620000" cy="6450931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38875" y="2586436"/>
            <a:ext cx="11903769" cy="590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AI-assisted health monitoring system that continuously observes physiological signals in real time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personalized baseline patterns for each user instead of relying on fixed thresholds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energy and emotional states using physiological data and pattern analysis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timely alerts and personalized recommendations for improved wellness and productivity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women through dynamic biological and hormonal changes using adaptive AI logic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explainable, ethical, and user-centric wellness support system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4292" y="1554990"/>
            <a:ext cx="2169207" cy="67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DB5646-2A20-29C4-5E6A-3EBABFC13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0" y="2232248"/>
            <a:ext cx="4953000" cy="7102252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26032" y="2109818"/>
            <a:ext cx="17609568" cy="5888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experience biological and hormonal changes that affect energy, emotional state, and daily productivity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health and productivity systems lack personalization and ignore cyclic physiological variations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integrates IoT-based physiological sensors with an AI-driven decision-making agent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such as heart rate, temperature, and activity levels are continuously collected and analyzed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AI model learns personalized baseline patterns instead of using fixed thresholds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predicts energy and emotional states and provides alerts and recommendations via a mobile application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focuses on wellness support, ensuring explainable, ethical, and adaptive AI behavior</a:t>
            </a:r>
          </a:p>
          <a:p>
            <a:pPr marL="295227" lvl="1" algn="just">
              <a:lnSpc>
                <a:spcPts val="3915"/>
              </a:lnSpc>
            </a:pP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50629" y="1367802"/>
            <a:ext cx="181334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EC337-3205-1189-BF01-22A0E5C4F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61F706-AC1C-B5E7-19C0-12BFDCCE2E3B}"/>
              </a:ext>
            </a:extLst>
          </p:cNvPr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4324B53-902E-D40A-D063-0EB3EA321A44}"/>
                </a:ext>
              </a:extLst>
            </p:cNvPr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8129E6E-2C36-D144-9ACA-4FA6B753FF7D}"/>
              </a:ext>
            </a:extLst>
          </p:cNvPr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8EFB053-8C0C-B2E1-12EE-0EAF7E935360}"/>
                </a:ext>
              </a:extLst>
            </p:cNvPr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14B5A24-5CA3-612D-51C4-4243E0FFBBF6}"/>
              </a:ext>
            </a:extLst>
          </p:cNvPr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4B611A1-42A2-7004-EDE4-78CCD8E0948D}"/>
                </a:ext>
              </a:extLst>
            </p:cNvPr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C86C1E6-7966-7D6B-99DA-682C50BF3DD6}"/>
              </a:ext>
            </a:extLst>
          </p:cNvPr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FEF99A1-CAB8-4644-6117-BB60388144E5}"/>
                </a:ext>
              </a:extLst>
            </p:cNvPr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9135DE0-3449-A2B8-58A7-737AC4897735}"/>
              </a:ext>
            </a:extLst>
          </p:cNvPr>
          <p:cNvSpPr/>
          <p:nvPr/>
        </p:nvSpPr>
        <p:spPr>
          <a:xfrm>
            <a:off x="1444500" y="346134"/>
            <a:ext cx="7699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371600"/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C76FB7A-3774-1297-8C9A-6F863631DCE1}"/>
              </a:ext>
            </a:extLst>
          </p:cNvPr>
          <p:cNvGraphicFramePr>
            <a:graphicFrameLocks noGrp="1"/>
          </p:cNvGraphicFramePr>
          <p:nvPr/>
        </p:nvGraphicFramePr>
        <p:xfrm>
          <a:off x="570497" y="1854319"/>
          <a:ext cx="17147009" cy="5885426"/>
        </p:xfrm>
        <a:graphic>
          <a:graphicData uri="http://schemas.openxmlformats.org/drawingml/2006/table">
            <a:tbl>
              <a:tblPr/>
              <a:tblGrid>
                <a:gridCol w="1015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0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3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3778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 No.​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Name of the Journal​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Year​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Discussion​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760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K.L.Nishitha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b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R. Ravi Kumar</a:t>
                      </a:r>
                      <a:endParaRPr lang="en-US" sz="2400" b="0" i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Health Monitoring System </a:t>
                      </a:r>
                      <a:endParaRPr 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/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Innovative Research in Science, Engineering and Technology</a:t>
                      </a:r>
                    </a:p>
                    <a:p>
                      <a:pPr algn="ctr" rtl="0" fontAlgn="base"/>
                      <a:endParaRPr lang="en-US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Times New Roman" pitchFamily="18" charset="0"/>
                          <a:cs typeface="Times New Roman" pitchFamily="18" charset="0"/>
                        </a:rPr>
                        <a:t>2020</a:t>
                      </a:r>
                    </a:p>
                    <a:p>
                      <a:pPr algn="ctr" rtl="0" fontAlgn="base"/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enables real-time health monitoring for early anomaly detection, improving patient safety and timely medical intervention.</a:t>
                      </a:r>
                      <a:endParaRPr 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ase"/>
                      <a:endParaRPr lang="en-US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0028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Hasmah</a:t>
                      </a:r>
                      <a:r>
                        <a:rPr lang="en-I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Mansor, Muhammad Helmy, et.al</a:t>
                      </a:r>
                      <a:endParaRPr lang="en-US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Body temperature measurement for remote health monitoring system</a:t>
                      </a:r>
                      <a:endParaRPr lang="en-IN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Research Journal of Engineering and Technology</a:t>
                      </a:r>
                      <a:endParaRPr lang="en-IN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2013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accurately measures body temperature remotely, enabling continuous monitoring, early detection of anomalies, and healthcare interventions for improved care.</a:t>
                      </a:r>
                    </a:p>
                    <a:p>
                      <a:pPr algn="ctr" rtl="0" fontAlgn="base"/>
                      <a:endParaRPr lang="en-US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326330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EB3CC-3289-C557-5A73-632FAB152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1581363-6B10-E611-41C7-100DE624B6DF}"/>
              </a:ext>
            </a:extLst>
          </p:cNvPr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37695C-30D7-24A2-6A7E-142D9C302345}"/>
                </a:ext>
              </a:extLst>
            </p:cNvPr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173C343-8B34-7965-58A8-1E40CFC87677}"/>
              </a:ext>
            </a:extLst>
          </p:cNvPr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8C203FE-D44B-F934-39FB-34131A70D61C}"/>
                </a:ext>
              </a:extLst>
            </p:cNvPr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80C66678-69AE-8A77-2DCE-901EC0B3FF98}"/>
              </a:ext>
            </a:extLst>
          </p:cNvPr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C062EA6-92E7-C27E-223D-E513EB09FFF9}"/>
                </a:ext>
              </a:extLst>
            </p:cNvPr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FD1A054-058F-4ABC-B92B-8B1C6BA96292}"/>
              </a:ext>
            </a:extLst>
          </p:cNvPr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18EECF6-F3E2-4C0C-42E1-14CA2722EFEC}"/>
                </a:ext>
              </a:extLst>
            </p:cNvPr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460C4-BA8B-5908-8D82-286340677593}"/>
              </a:ext>
            </a:extLst>
          </p:cNvPr>
          <p:cNvSpPr/>
          <p:nvPr/>
        </p:nvSpPr>
        <p:spPr>
          <a:xfrm>
            <a:off x="1444500" y="346134"/>
            <a:ext cx="7699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371600"/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ACD5082-5F23-9E2A-7431-1B5A6A9DA26B}"/>
              </a:ext>
            </a:extLst>
          </p:cNvPr>
          <p:cNvGraphicFramePr>
            <a:graphicFrameLocks noGrp="1"/>
          </p:cNvGraphicFramePr>
          <p:nvPr/>
        </p:nvGraphicFramePr>
        <p:xfrm>
          <a:off x="570497" y="1854319"/>
          <a:ext cx="17147009" cy="5885426"/>
        </p:xfrm>
        <a:graphic>
          <a:graphicData uri="http://schemas.openxmlformats.org/drawingml/2006/table">
            <a:tbl>
              <a:tblPr/>
              <a:tblGrid>
                <a:gridCol w="1015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0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3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3778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 No.​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Name of the Journal​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Year​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Discussion​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760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Mohamed Adel </a:t>
                      </a:r>
                      <a:r>
                        <a:rPr lang="en-US" sz="24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Serhani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Hadeel T. El </a:t>
                      </a:r>
                      <a:r>
                        <a:rPr lang="en-US" sz="24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Kassabi</a:t>
                      </a: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et.al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ECG Monitoring Systems: Review, Architecture, Processes, and Key Challenges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Sensors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ECG monitoring systems must integrate deep learning, AI, Big Data, and IoT to enhance efficiency, reduce costs, and ensure seamless, real-time cardiovascular health monitoring.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0028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C.Senthamilarasi</a:t>
                      </a: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J.Jansi</a:t>
                      </a: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Rani,  et.al</a:t>
                      </a:r>
                      <a:endParaRPr lang="en-IN" sz="2400" b="0" kern="1200" baseline="0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400" b="0" kern="1200" baseline="0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Smart Patient Health Monitoring System Using </a:t>
                      </a:r>
                      <a:r>
                        <a:rPr lang="en-US" sz="2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endParaRPr lang="en-IN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Pure and Applied Mathematics</a:t>
                      </a:r>
                      <a:endParaRPr lang="en-IN" sz="2400" b="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patient monitoring ensures real-time health tracking, remote alerts, and timely medical response, enhancing patient care and saving lives efficiently.</a:t>
                      </a:r>
                    </a:p>
                    <a:p>
                      <a:pPr algn="ctr" rtl="0" fontAlgn="base"/>
                      <a:endParaRPr lang="en-US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839041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ECE54-13CD-B42A-5B85-754CE6BEF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044314D-E8F5-39CD-6BB2-1745CD419245}"/>
              </a:ext>
            </a:extLst>
          </p:cNvPr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A520B6-9E4D-E78B-8C7B-9616F668752D}"/>
                </a:ext>
              </a:extLst>
            </p:cNvPr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14373CA-1A5C-6E28-238E-B6EBF49B7BAD}"/>
              </a:ext>
            </a:extLst>
          </p:cNvPr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22B5048-4619-C515-371B-F590FDD055E9}"/>
                </a:ext>
              </a:extLst>
            </p:cNvPr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761FADC8-71D1-DA29-4CD6-F819C9EE999E}"/>
              </a:ext>
            </a:extLst>
          </p:cNvPr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BC9E162-1367-30C7-EF59-922FC880E13E}"/>
                </a:ext>
              </a:extLst>
            </p:cNvPr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D886A58-0D2E-A005-6822-0725BBB5A69E}"/>
              </a:ext>
            </a:extLst>
          </p:cNvPr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A8E65D1-8C36-F4A7-2094-EC86B0539AA6}"/>
                </a:ext>
              </a:extLst>
            </p:cNvPr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0AB64CA4-979E-A07B-7A79-8BB1912711AD}"/>
              </a:ext>
            </a:extLst>
          </p:cNvPr>
          <p:cNvSpPr/>
          <p:nvPr/>
        </p:nvSpPr>
        <p:spPr>
          <a:xfrm>
            <a:off x="1444500" y="346134"/>
            <a:ext cx="7699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371600"/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B728591-6C73-9041-7C11-66F6BE1EFF83}"/>
              </a:ext>
            </a:extLst>
          </p:cNvPr>
          <p:cNvGraphicFramePr>
            <a:graphicFrameLocks noGrp="1"/>
          </p:cNvGraphicFramePr>
          <p:nvPr/>
        </p:nvGraphicFramePr>
        <p:xfrm>
          <a:off x="570497" y="1854319"/>
          <a:ext cx="17147009" cy="5885426"/>
        </p:xfrm>
        <a:graphic>
          <a:graphicData uri="http://schemas.openxmlformats.org/drawingml/2006/table">
            <a:tbl>
              <a:tblPr/>
              <a:tblGrid>
                <a:gridCol w="1015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2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0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33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3778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 No.​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Title of the Paper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Name of the Journal​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Year​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Discussion​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760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Toshiyo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Tamura</a:t>
                      </a:r>
                      <a:endParaRPr lang="en-US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Current progress of photoplethysmography and SPO2 for health monitoring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Biomedical Engineering Letters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PPG is a valuable, non-invasive health monitoring tool. Advancements in wearables improve accuracy, despite challenges like motion artifacts and calibration.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0028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Sang-Joong Jung</a:t>
                      </a:r>
                      <a:r>
                        <a:rPr lang="en-US" sz="2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Wan-Young Chung</a:t>
                      </a:r>
                      <a:endParaRPr lang="en-US" sz="2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400" b="0" kern="1200" baseline="0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Flexible and Scalable Patient's Health Monitoring System in 6LoWPAN</a:t>
                      </a:r>
                      <a:endParaRPr lang="en-IN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Sensors Letters</a:t>
                      </a:r>
                      <a:endParaRPr lang="en-US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enabling factor combines technologies and communication solutions, resulting in synergetic activities across telecommunications, informatics, and electronics.</a:t>
                      </a:r>
                      <a:endParaRPr lang="en-US" sz="24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081" marR="123081" marT="61541" marB="61541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259711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69" y="2322695"/>
            <a:ext cx="9296331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applications focus on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health tracking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steps, heart rate, or calorie count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threshold values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 the same for all users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insights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understanding individual biological differences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consider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 changes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women’s energy and emotional states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display data on dashboards without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decision making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support for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 and personalized recommendations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76137" y="1470130"/>
            <a:ext cx="3364245" cy="67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</a:t>
            </a: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9C9E65-F657-38FB-4E7B-A1A2CCF77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0" y="2297295"/>
            <a:ext cx="8077200" cy="590931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644" y="9739294"/>
            <a:ext cx="14557059" cy="547688"/>
            <a:chOff x="-312325" y="34568"/>
            <a:chExt cx="19409411" cy="730250"/>
          </a:xfrm>
        </p:grpSpPr>
        <p:sp>
          <p:nvSpPr>
            <p:cNvPr id="3" name="Freeform 3"/>
            <p:cNvSpPr/>
            <p:nvPr/>
          </p:nvSpPr>
          <p:spPr>
            <a:xfrm>
              <a:off x="-312325" y="34568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28650" y="2553508"/>
            <a:ext cx="8896350" cy="6494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AI-driven personalized health and energy monitoring system for women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physiological sensors to collect real-time data (heart rate, temperature, activity)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a hybrid AI agent that combines rule-based logic with learning from historical data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personalized baseline patterns instead of using fixed thresholds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energy and emotional states rather than only tracking raw data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alerts and personalized recommendations through a mobile application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wellness support with an explainable and ethical AI approach</a:t>
            </a:r>
          </a:p>
          <a:p>
            <a:pPr marL="271463" lvl="1" algn="just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58375" y="1483884"/>
            <a:ext cx="3586710" cy="677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Method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F2A393-93B2-3AB7-356C-0FD6F33E4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2161143"/>
            <a:ext cx="5429250" cy="29823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689F61-AA70-BC31-B7A1-EE0C9BCC1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0" y="5524500"/>
            <a:ext cx="5266944" cy="36576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18580" y="1497840"/>
            <a:ext cx="3372420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Diagram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A66F07-5476-C605-BB49-9511C5C2F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815969"/>
            <a:ext cx="7321931" cy="6156648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48983" y="1415314"/>
            <a:ext cx="4313217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69"/>
              </a:lnSpc>
            </a:pPr>
            <a:r>
              <a:rPr lang="en-US" sz="347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Circuit Diagram​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A6A854-D10B-8353-FBFA-16444CA5E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050" y="2119622"/>
            <a:ext cx="8077900" cy="604775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CD66F03-AF89-B6BD-1213-88FB3896056D}"/>
              </a:ext>
            </a:extLst>
          </p:cNvPr>
          <p:cNvSpPr txBox="1"/>
          <p:nvPr/>
        </p:nvSpPr>
        <p:spPr>
          <a:xfrm>
            <a:off x="6781800" y="8860941"/>
            <a:ext cx="9156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a) Circuit diagram of Vita guard</a:t>
            </a: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C4608-FFCD-940B-05FD-FEA43CD7C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1A216A2-C642-63E8-A279-F765A42D0577}"/>
              </a:ext>
            </a:extLst>
          </p:cNvPr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20F2E2F-E098-5CD8-75C7-54010E746A07}"/>
                </a:ext>
              </a:extLst>
            </p:cNvPr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A4AA514-99B8-1E97-D957-EB6D4B58C24A}"/>
              </a:ext>
            </a:extLst>
          </p:cNvPr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31B2F7A-684E-192F-CC50-8CB26E71D787}"/>
                </a:ext>
              </a:extLst>
            </p:cNvPr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18FAA6B-D1C4-3E9E-0F6D-E2A28AA75D85}"/>
              </a:ext>
            </a:extLst>
          </p:cNvPr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FC7B4A-F666-90A6-D526-DC26756E161A}"/>
                </a:ext>
              </a:extLst>
            </p:cNvPr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852A14B-E3FC-2D7A-97DD-D5D377710F15}"/>
              </a:ext>
            </a:extLst>
          </p:cNvPr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80B833D-991E-DEE8-AA63-C083F52FB9FD}"/>
                </a:ext>
              </a:extLst>
            </p:cNvPr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B1710451-BF65-D641-3F5D-4896C39C8F4F}"/>
              </a:ext>
            </a:extLst>
          </p:cNvPr>
          <p:cNvSpPr txBox="1">
            <a:spLocks/>
          </p:cNvSpPr>
          <p:nvPr/>
        </p:nvSpPr>
        <p:spPr>
          <a:xfrm>
            <a:off x="1353312" y="537119"/>
            <a:ext cx="9909594" cy="85388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371600">
              <a:lnSpc>
                <a:spcPct val="90000"/>
              </a:lnSpc>
            </a:pPr>
            <a:r>
              <a:rPr lang="en-US" sz="5250" b="1" dirty="0">
                <a:solidFill>
                  <a:srgbClr val="1E41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USERFACE</a:t>
            </a:r>
            <a:endParaRPr lang="en-IN" sz="5250" b="1" dirty="0">
              <a:solidFill>
                <a:srgbClr val="1E41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34C37E-4C47-6953-0EEF-A77F1E7DE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300"/>
            <a:ext cx="8839200" cy="784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63BF4F-607E-51F2-DF37-6F3D2DDF5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0" y="1714500"/>
            <a:ext cx="94488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430992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B3833-738E-C6BF-F983-5D0F0333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Content Placeholder 6">
            <a:extLst>
              <a:ext uri="{FF2B5EF4-FFF2-40B4-BE49-F238E27FC236}">
                <a16:creationId xmlns:a16="http://schemas.microsoft.com/office/drawing/2014/main" id="{B3498390-51BD-8792-BC81-F28211AE9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419" y="1323687"/>
            <a:ext cx="5765774" cy="7074570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BA9F2BB9-519D-D65C-7387-75007DF47D09}"/>
              </a:ext>
            </a:extLst>
          </p:cNvPr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0A4409-3871-4EAF-9054-CDE83824CD9D}"/>
                </a:ext>
              </a:extLst>
            </p:cNvPr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D28D623-3981-21C1-A996-0D2C5712F81B}"/>
              </a:ext>
            </a:extLst>
          </p:cNvPr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F9CF9B1-1A1F-C8A9-8FD2-E5CF688F488A}"/>
                </a:ext>
              </a:extLst>
            </p:cNvPr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EE0F6972-8A52-26CE-9C35-EC352E4FBD90}"/>
              </a:ext>
            </a:extLst>
          </p:cNvPr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1E15516-6AB5-E6D9-451B-753EEFD4A271}"/>
                </a:ext>
              </a:extLst>
            </p:cNvPr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CA1DFB2-3445-85EC-CADE-C3325639B9BE}"/>
              </a:ext>
            </a:extLst>
          </p:cNvPr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A3AB52D-0ED2-0E3D-9A34-69E8D56BBCEC}"/>
                </a:ext>
              </a:extLst>
            </p:cNvPr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19C5CA76-C9C9-DED9-044B-15B5AE0D6696}"/>
              </a:ext>
            </a:extLst>
          </p:cNvPr>
          <p:cNvSpPr txBox="1">
            <a:spLocks/>
          </p:cNvSpPr>
          <p:nvPr/>
        </p:nvSpPr>
        <p:spPr>
          <a:xfrm>
            <a:off x="1468604" y="457987"/>
            <a:ext cx="9909594" cy="85388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371600">
              <a:lnSpc>
                <a:spcPct val="90000"/>
              </a:lnSpc>
            </a:pP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  IMAGE </a:t>
            </a:r>
            <a:endParaRPr lang="en-IN" sz="4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01EBC6-CFB6-41F2-3975-3ED99F80AD98}"/>
              </a:ext>
            </a:extLst>
          </p:cNvPr>
          <p:cNvCxnSpPr/>
          <p:nvPr/>
        </p:nvCxnSpPr>
        <p:spPr>
          <a:xfrm>
            <a:off x="9144001" y="7052045"/>
            <a:ext cx="47037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2F8956-1565-462C-4C6C-6C96690945F4}"/>
              </a:ext>
            </a:extLst>
          </p:cNvPr>
          <p:cNvCxnSpPr/>
          <p:nvPr/>
        </p:nvCxnSpPr>
        <p:spPr>
          <a:xfrm>
            <a:off x="8989622" y="5137971"/>
            <a:ext cx="47037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867E69E-6F40-2011-0F01-8113FEED1699}"/>
              </a:ext>
            </a:extLst>
          </p:cNvPr>
          <p:cNvSpPr txBox="1"/>
          <p:nvPr/>
        </p:nvSpPr>
        <p:spPr>
          <a:xfrm>
            <a:off x="13693395" y="4860972"/>
            <a:ext cx="29496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/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Regulator</a:t>
            </a:r>
            <a:endParaRPr lang="en-IN" sz="27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9A5213-7A98-5640-A927-D21C478F7F99}"/>
              </a:ext>
            </a:extLst>
          </p:cNvPr>
          <p:cNvCxnSpPr/>
          <p:nvPr/>
        </p:nvCxnSpPr>
        <p:spPr>
          <a:xfrm>
            <a:off x="8591416" y="3390287"/>
            <a:ext cx="47037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1CAAF6-FAF4-2248-917E-FD0E5F36B9B6}"/>
              </a:ext>
            </a:extLst>
          </p:cNvPr>
          <p:cNvSpPr txBox="1"/>
          <p:nvPr/>
        </p:nvSpPr>
        <p:spPr>
          <a:xfrm>
            <a:off x="13295189" y="3113288"/>
            <a:ext cx="29496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/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EMG Sensor</a:t>
            </a:r>
            <a:endParaRPr lang="en-IN" sz="27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7734BB-9F11-E424-4B54-45FFC8F98177}"/>
              </a:ext>
            </a:extLst>
          </p:cNvPr>
          <p:cNvCxnSpPr>
            <a:cxnSpLocks/>
          </p:cNvCxnSpPr>
          <p:nvPr/>
        </p:nvCxnSpPr>
        <p:spPr>
          <a:xfrm>
            <a:off x="8591416" y="4436856"/>
            <a:ext cx="52563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5AEE01C-71DF-0C69-AE37-E8BC4A5559B8}"/>
              </a:ext>
            </a:extLst>
          </p:cNvPr>
          <p:cNvSpPr txBox="1"/>
          <p:nvPr/>
        </p:nvSpPr>
        <p:spPr>
          <a:xfrm>
            <a:off x="13847774" y="4156233"/>
            <a:ext cx="29496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/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</a:t>
            </a:r>
            <a:endParaRPr lang="en-IN" sz="27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BA8CCF-8D43-107A-B906-03DDCEE4F912}"/>
              </a:ext>
            </a:extLst>
          </p:cNvPr>
          <p:cNvCxnSpPr>
            <a:cxnSpLocks/>
          </p:cNvCxnSpPr>
          <p:nvPr/>
        </p:nvCxnSpPr>
        <p:spPr>
          <a:xfrm>
            <a:off x="9782162" y="5336540"/>
            <a:ext cx="2329584" cy="502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D5EAD37-0CF0-465A-40E2-BDA1B5094C64}"/>
              </a:ext>
            </a:extLst>
          </p:cNvPr>
          <p:cNvSpPr txBox="1"/>
          <p:nvPr/>
        </p:nvSpPr>
        <p:spPr>
          <a:xfrm>
            <a:off x="12111746" y="5642565"/>
            <a:ext cx="384243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/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</a:t>
            </a:r>
            <a:endParaRPr lang="en-IN" sz="27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54A40B-848B-0B88-6D68-2F7412B8D851}"/>
              </a:ext>
            </a:extLst>
          </p:cNvPr>
          <p:cNvCxnSpPr/>
          <p:nvPr/>
        </p:nvCxnSpPr>
        <p:spPr>
          <a:xfrm flipH="1">
            <a:off x="2831692" y="3667286"/>
            <a:ext cx="41885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1F71B50-5152-A81A-32FB-8F5BEFDD0AF2}"/>
              </a:ext>
            </a:extLst>
          </p:cNvPr>
          <p:cNvSpPr txBox="1"/>
          <p:nvPr/>
        </p:nvSpPr>
        <p:spPr>
          <a:xfrm>
            <a:off x="766916" y="3349938"/>
            <a:ext cx="20647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/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ECG Sensor</a:t>
            </a:r>
            <a:endParaRPr lang="en-IN" sz="27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A9FC4A4-A96B-0343-5F2E-3A53B3D668B3}"/>
              </a:ext>
            </a:extLst>
          </p:cNvPr>
          <p:cNvCxnSpPr>
            <a:cxnSpLocks/>
          </p:cNvCxnSpPr>
          <p:nvPr/>
        </p:nvCxnSpPr>
        <p:spPr>
          <a:xfrm flipH="1">
            <a:off x="3480620" y="4327092"/>
            <a:ext cx="35700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3927C8F-E264-78FA-3041-8C4B92018875}"/>
              </a:ext>
            </a:extLst>
          </p:cNvPr>
          <p:cNvSpPr txBox="1"/>
          <p:nvPr/>
        </p:nvSpPr>
        <p:spPr>
          <a:xfrm>
            <a:off x="998675" y="4050093"/>
            <a:ext cx="27694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/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Module</a:t>
            </a:r>
            <a:endParaRPr lang="en-IN" sz="27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41E7D6-CB60-F153-0E8C-999583A6F078}"/>
              </a:ext>
            </a:extLst>
          </p:cNvPr>
          <p:cNvCxnSpPr>
            <a:cxnSpLocks/>
          </p:cNvCxnSpPr>
          <p:nvPr/>
        </p:nvCxnSpPr>
        <p:spPr>
          <a:xfrm flipH="1">
            <a:off x="3183269" y="4986897"/>
            <a:ext cx="2405006" cy="404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8AB00C2-FA76-5643-80BF-4E85D4119300}"/>
              </a:ext>
            </a:extLst>
          </p:cNvPr>
          <p:cNvSpPr txBox="1"/>
          <p:nvPr/>
        </p:nvSpPr>
        <p:spPr>
          <a:xfrm>
            <a:off x="762531" y="5157816"/>
            <a:ext cx="29496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/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Spo2 and Heartbeat Sensor</a:t>
            </a:r>
            <a:endParaRPr lang="en-IN" sz="27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8B89F60-3428-EA1F-5661-7DCDCAA5CE6E}"/>
              </a:ext>
            </a:extLst>
          </p:cNvPr>
          <p:cNvCxnSpPr>
            <a:cxnSpLocks/>
          </p:cNvCxnSpPr>
          <p:nvPr/>
        </p:nvCxnSpPr>
        <p:spPr>
          <a:xfrm flipH="1">
            <a:off x="3205709" y="5414971"/>
            <a:ext cx="3814524" cy="1252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FEA78CC-D2D1-B68E-B301-AE178AD0EA57}"/>
              </a:ext>
            </a:extLst>
          </p:cNvPr>
          <p:cNvSpPr txBox="1"/>
          <p:nvPr/>
        </p:nvSpPr>
        <p:spPr>
          <a:xfrm>
            <a:off x="784971" y="6434099"/>
            <a:ext cx="294967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/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Potentiometer</a:t>
            </a:r>
            <a:endParaRPr lang="en-IN" sz="27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7229C8-2D67-8725-395A-9257E0AC28A6}"/>
              </a:ext>
            </a:extLst>
          </p:cNvPr>
          <p:cNvSpPr txBox="1"/>
          <p:nvPr/>
        </p:nvSpPr>
        <p:spPr>
          <a:xfrm>
            <a:off x="13847774" y="6775046"/>
            <a:ext cx="395352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/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Batteries (12v and 3.7v)</a:t>
            </a:r>
            <a:endParaRPr lang="en-IN" sz="27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373983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29A8-3A64-FB8D-9C3D-5F66846AC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7547FBA-1B3B-A4D7-53FC-D44A5706D0BE}"/>
              </a:ext>
            </a:extLst>
          </p:cNvPr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283F4D-4642-B45B-0DC3-1627521B961D}"/>
                </a:ext>
              </a:extLst>
            </p:cNvPr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3A3D579-43C1-9C25-ACD6-AACD54CF258F}"/>
              </a:ext>
            </a:extLst>
          </p:cNvPr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AE2878D-AB00-4C65-BD2F-7E463223D061}"/>
                </a:ext>
              </a:extLst>
            </p:cNvPr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D4990DED-2089-52E6-2DD0-15745DE268A9}"/>
              </a:ext>
            </a:extLst>
          </p:cNvPr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53F8D30-9E32-5489-9156-AC412E998CA2}"/>
                </a:ext>
              </a:extLst>
            </p:cNvPr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5D84C8C-F1D9-680D-A404-23C7EE7C50E3}"/>
              </a:ext>
            </a:extLst>
          </p:cNvPr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ABCAF00-7770-1398-BE23-1A23BD2521C0}"/>
                </a:ext>
              </a:extLst>
            </p:cNvPr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94A44935-A7D5-76D4-842B-D4B4402DC20D}"/>
              </a:ext>
            </a:extLst>
          </p:cNvPr>
          <p:cNvSpPr txBox="1">
            <a:spLocks/>
          </p:cNvSpPr>
          <p:nvPr/>
        </p:nvSpPr>
        <p:spPr>
          <a:xfrm>
            <a:off x="1257300" y="639492"/>
            <a:ext cx="9909594" cy="85388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371600">
              <a:lnSpc>
                <a:spcPct val="90000"/>
              </a:lnSpc>
            </a:pPr>
            <a:r>
              <a:rPr lang="en-US" sz="5250" b="1" dirty="0">
                <a:solidFill>
                  <a:srgbClr val="1E41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 </a:t>
            </a:r>
            <a:endParaRPr lang="en-IN" sz="5250" b="1" dirty="0">
              <a:solidFill>
                <a:srgbClr val="1E41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2540A854-6A0D-8BE7-B23C-9976549E3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1112" y="1744483"/>
            <a:ext cx="2904221" cy="24191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9C0E3D-DB21-3728-A74F-E6D5F7606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733" y="5707157"/>
            <a:ext cx="2904221" cy="23765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041F4F-D906-9C20-F120-17F135EA4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733" y="1911881"/>
            <a:ext cx="2904221" cy="23765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9D542AF-20E6-C1DC-DF0F-DEFC6C33B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6485" y="5707157"/>
            <a:ext cx="2717525" cy="25083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193D84-DF5F-8DB7-CEA3-763913908A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8680" y="5707157"/>
            <a:ext cx="2904221" cy="25083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35C8DC-9EA9-0592-4C8C-01DA0A7DD9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6485" y="1744482"/>
            <a:ext cx="2904221" cy="2472837"/>
          </a:xfrm>
          <a:prstGeom prst="rect">
            <a:avLst/>
          </a:prstGeom>
        </p:spPr>
      </p:pic>
      <p:sp>
        <p:nvSpPr>
          <p:cNvPr id="20" name="TextBox 12">
            <a:extLst>
              <a:ext uri="{FF2B5EF4-FFF2-40B4-BE49-F238E27FC236}">
                <a16:creationId xmlns:a16="http://schemas.microsoft.com/office/drawing/2014/main" id="{37BB2A24-7D3D-79BA-E61B-9F647DE48422}"/>
              </a:ext>
            </a:extLst>
          </p:cNvPr>
          <p:cNvSpPr txBox="1"/>
          <p:nvPr/>
        </p:nvSpPr>
        <p:spPr>
          <a:xfrm>
            <a:off x="1089631" y="4307513"/>
            <a:ext cx="34010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n-US" sz="3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 32  Microcontroller</a:t>
            </a:r>
            <a:endParaRPr lang="en-IN" sz="3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7E966A6C-997E-54D8-3214-9CA270E5B953}"/>
              </a:ext>
            </a:extLst>
          </p:cNvPr>
          <p:cNvSpPr txBox="1"/>
          <p:nvPr/>
        </p:nvSpPr>
        <p:spPr>
          <a:xfrm>
            <a:off x="6773305" y="8367482"/>
            <a:ext cx="34010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n-US" sz="3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 </a:t>
            </a:r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(LM35/DS18B20)</a:t>
            </a:r>
            <a:endParaRPr lang="en-IN" sz="3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1D4F8575-FAE0-9BFC-0E03-3A22099F0008}"/>
              </a:ext>
            </a:extLst>
          </p:cNvPr>
          <p:cNvSpPr txBox="1"/>
          <p:nvPr/>
        </p:nvSpPr>
        <p:spPr>
          <a:xfrm>
            <a:off x="1089631" y="8337063"/>
            <a:ext cx="34010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n-US" sz="3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 Sensor(ADXL345)</a:t>
            </a:r>
            <a:endParaRPr lang="en-IN" sz="3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A4DB3BCB-65CA-C2E3-3F2C-73052912554A}"/>
              </a:ext>
            </a:extLst>
          </p:cNvPr>
          <p:cNvSpPr txBox="1"/>
          <p:nvPr/>
        </p:nvSpPr>
        <p:spPr>
          <a:xfrm>
            <a:off x="11673517" y="4537377"/>
            <a:ext cx="34010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n-US" sz="3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EMG Sensor</a:t>
            </a:r>
            <a:endParaRPr lang="en-IN" sz="3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0DBA344A-1A1B-BE10-6BC8-040354C59598}"/>
              </a:ext>
            </a:extLst>
          </p:cNvPr>
          <p:cNvSpPr txBox="1"/>
          <p:nvPr/>
        </p:nvSpPr>
        <p:spPr>
          <a:xfrm>
            <a:off x="6524879" y="4537378"/>
            <a:ext cx="45584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371600"/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ECG Sensor (AD8232 )</a:t>
            </a:r>
            <a:endParaRPr lang="en-US" sz="3000" dirty="0">
              <a:solidFill>
                <a:prstClr val="black"/>
              </a:solidFill>
              <a:latin typeface="Franklin Gothic Book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897B5F-0E9D-1086-ECE6-BDFF6031FEBF}"/>
              </a:ext>
            </a:extLst>
          </p:cNvPr>
          <p:cNvSpPr txBox="1"/>
          <p:nvPr/>
        </p:nvSpPr>
        <p:spPr>
          <a:xfrm>
            <a:off x="12027933" y="8393301"/>
            <a:ext cx="31649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n-US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SPO2 and Heartbeat Sensor</a:t>
            </a:r>
            <a:endParaRPr lang="en-IN" sz="27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98690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92B2D-0D5C-961F-7B29-BD6060C64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856923-F9B8-FF5F-BE46-E921EB891816}"/>
              </a:ext>
            </a:extLst>
          </p:cNvPr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1700AF3-4147-1C9C-739C-D358131DE041}"/>
                </a:ext>
              </a:extLst>
            </p:cNvPr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2FF6F35-1A52-BC76-C3C1-730AB7874FBF}"/>
              </a:ext>
            </a:extLst>
          </p:cNvPr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636C71B-8233-5C2D-FD09-A06EAF1E9CE3}"/>
                </a:ext>
              </a:extLst>
            </p:cNvPr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F8E22C5-5AEB-7D71-8685-EC44BD100716}"/>
              </a:ext>
            </a:extLst>
          </p:cNvPr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CB249F8-ED8A-CEEA-D953-897C6915281D}"/>
                </a:ext>
              </a:extLst>
            </p:cNvPr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C8C11E2-1FAD-48D1-874F-BE00BA952CAA}"/>
              </a:ext>
            </a:extLst>
          </p:cNvPr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1B280A2-168B-0C93-2B35-C10CBE9E6263}"/>
                </a:ext>
              </a:extLst>
            </p:cNvPr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6284759-03B9-676A-B1CB-71C2FCD0F9B8}"/>
              </a:ext>
            </a:extLst>
          </p:cNvPr>
          <p:cNvSpPr txBox="1">
            <a:spLocks/>
          </p:cNvSpPr>
          <p:nvPr/>
        </p:nvSpPr>
        <p:spPr>
          <a:xfrm>
            <a:off x="1285260" y="646847"/>
            <a:ext cx="9909594" cy="85388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371600">
              <a:lnSpc>
                <a:spcPct val="90000"/>
              </a:lnSpc>
            </a:pPr>
            <a:r>
              <a:rPr lang="en-US" sz="5250" b="1" dirty="0">
                <a:solidFill>
                  <a:srgbClr val="1E41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 </a:t>
            </a:r>
            <a:endParaRPr lang="en-IN" sz="5250" b="1" dirty="0">
              <a:solidFill>
                <a:srgbClr val="1E417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Content Placeholder 30">
            <a:extLst>
              <a:ext uri="{FF2B5EF4-FFF2-40B4-BE49-F238E27FC236}">
                <a16:creationId xmlns:a16="http://schemas.microsoft.com/office/drawing/2014/main" id="{867919BB-2416-A986-BC5A-640E92B64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73" y="1910883"/>
            <a:ext cx="3515868" cy="25454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B290E4-4222-EC03-D78D-3CD7F7CFF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398" y="5793296"/>
            <a:ext cx="2799315" cy="238058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EC63AE1-04B5-576B-DDDB-63296F5A6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8660" y="1817988"/>
            <a:ext cx="2271743" cy="270666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8C964A2-E4CC-2106-FC0D-FCA9CC8F4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8145" y="5793296"/>
            <a:ext cx="2627403" cy="238058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AFEBD91-96B8-72C9-D738-562BB465B7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2310" y="1878476"/>
            <a:ext cx="2627403" cy="229718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8F0CE43-102F-F8C8-5A3E-DC7703942EC7}"/>
              </a:ext>
            </a:extLst>
          </p:cNvPr>
          <p:cNvSpPr txBox="1"/>
          <p:nvPr/>
        </p:nvSpPr>
        <p:spPr>
          <a:xfrm>
            <a:off x="1512189" y="4524654"/>
            <a:ext cx="279931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n-US" sz="3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Silk Fabric </a:t>
            </a:r>
            <a:endParaRPr lang="en-IN" sz="3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9B37D2-F6A5-E479-A50E-7122032A06A6}"/>
              </a:ext>
            </a:extLst>
          </p:cNvPr>
          <p:cNvSpPr txBox="1"/>
          <p:nvPr/>
        </p:nvSpPr>
        <p:spPr>
          <a:xfrm>
            <a:off x="10996361" y="4430973"/>
            <a:ext cx="5497484" cy="1046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9660" marR="523875" indent="-9525" algn="ctr" defTabSz="1371600">
              <a:lnSpc>
                <a:spcPct val="107000"/>
              </a:lnSpc>
              <a:spcAft>
                <a:spcPts val="795"/>
              </a:spcAft>
            </a:pPr>
            <a:r>
              <a:rPr lang="en-US" sz="30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RM065 Trimmer Potentiometer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47D279-E2CC-7FB8-E4BE-D2921B0A7723}"/>
              </a:ext>
            </a:extLst>
          </p:cNvPr>
          <p:cNvSpPr txBox="1"/>
          <p:nvPr/>
        </p:nvSpPr>
        <p:spPr>
          <a:xfrm>
            <a:off x="7292310" y="4430974"/>
            <a:ext cx="30415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n-US" sz="3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Regulator</a:t>
            </a:r>
            <a:endParaRPr lang="en-IN" sz="3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8B2AF6-A139-9853-26A5-E86FB7374113}"/>
              </a:ext>
            </a:extLst>
          </p:cNvPr>
          <p:cNvSpPr txBox="1"/>
          <p:nvPr/>
        </p:nvSpPr>
        <p:spPr>
          <a:xfrm>
            <a:off x="1699695" y="8381271"/>
            <a:ext cx="24243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n-US" sz="3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  <a:endParaRPr lang="en-IN" sz="3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778523-D4D3-B1CA-D6D0-E52C5CF54460}"/>
              </a:ext>
            </a:extLst>
          </p:cNvPr>
          <p:cNvSpPr txBox="1"/>
          <p:nvPr/>
        </p:nvSpPr>
        <p:spPr>
          <a:xfrm>
            <a:off x="6775705" y="8350745"/>
            <a:ext cx="31440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371600"/>
            <a:r>
              <a:rPr lang="en-US" sz="3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  <a:endParaRPr lang="en-IN" sz="3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250694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1FBA0-07F2-BB36-8177-31B2066C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F6D29CB-011F-B5AE-5820-2C507BDA8C66}"/>
              </a:ext>
            </a:extLst>
          </p:cNvPr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E607F77-AB64-5BA0-4D63-9C80570836B8}"/>
                </a:ext>
              </a:extLst>
            </p:cNvPr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44EF1AF-0C1F-0DEC-93CC-F7EF1EE0D4FC}"/>
              </a:ext>
            </a:extLst>
          </p:cNvPr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D998D6F-FE7D-C057-BEB4-65BA690E2242}"/>
                </a:ext>
              </a:extLst>
            </p:cNvPr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2B795FA-B7CD-C184-9CC1-721A7A3D41EC}"/>
              </a:ext>
            </a:extLst>
          </p:cNvPr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56FF32E-5D2D-3124-3DAD-AFA263E58820}"/>
                </a:ext>
              </a:extLst>
            </p:cNvPr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B4D97DE-073A-E84C-0FE5-8D51FC8F5FAB}"/>
              </a:ext>
            </a:extLst>
          </p:cNvPr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A23C3E7-F9B1-7D39-BD39-3CA294F85DC2}"/>
                </a:ext>
              </a:extLst>
            </p:cNvPr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1217CEE-E11D-2ED4-3ACC-E136C3EB1A56}"/>
              </a:ext>
            </a:extLst>
          </p:cNvPr>
          <p:cNvSpPr txBox="1">
            <a:spLocks/>
          </p:cNvSpPr>
          <p:nvPr/>
        </p:nvSpPr>
        <p:spPr>
          <a:xfrm>
            <a:off x="1257300" y="646847"/>
            <a:ext cx="9909594" cy="85388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371600"/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SOFTWARE USED </a:t>
            </a:r>
            <a:endParaRPr lang="en-IN" sz="48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7E83EA-4E97-CAA8-FB9D-C273DF45D14E}"/>
              </a:ext>
            </a:extLst>
          </p:cNvPr>
          <p:cNvSpPr txBox="1">
            <a:spLocks/>
          </p:cNvSpPr>
          <p:nvPr/>
        </p:nvSpPr>
        <p:spPr>
          <a:xfrm>
            <a:off x="1077686" y="1975757"/>
            <a:ext cx="15953015" cy="696619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75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</a:t>
            </a:r>
          </a:p>
          <a:p>
            <a:pPr>
              <a:lnSpc>
                <a:spcPct val="150000"/>
              </a:lnSpc>
            </a:pPr>
            <a:r>
              <a:rPr lang="en-US" sz="375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 </a:t>
            </a:r>
          </a:p>
          <a:p>
            <a:pPr>
              <a:lnSpc>
                <a:spcPct val="150000"/>
              </a:lnSpc>
            </a:pPr>
            <a:r>
              <a:rPr lang="en-US" sz="3750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endParaRPr lang="en-US" sz="3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411090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C21C-AA7E-4744-0424-FA48E1F8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3DE3455-C80E-7476-1FD1-B2B7AE1E3870}"/>
              </a:ext>
            </a:extLst>
          </p:cNvPr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9FCFB61-BABE-C631-7C28-6C2F4E5322A8}"/>
                </a:ext>
              </a:extLst>
            </p:cNvPr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AEC2E39-83E2-675D-1982-5780F576CE28}"/>
              </a:ext>
            </a:extLst>
          </p:cNvPr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8925E0F-E244-571C-3A97-31311C9BE988}"/>
                </a:ext>
              </a:extLst>
            </p:cNvPr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7016484-118F-1C7D-63D7-41C757197AF4}"/>
              </a:ext>
            </a:extLst>
          </p:cNvPr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9381811-5B80-F523-A80E-4D1546358490}"/>
                </a:ext>
              </a:extLst>
            </p:cNvPr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A0FB56F-E64F-0916-4EBC-9E1862D01C0B}"/>
              </a:ext>
            </a:extLst>
          </p:cNvPr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4A01613-E453-8063-B201-53D802F8F2C3}"/>
                </a:ext>
              </a:extLst>
            </p:cNvPr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7294995-D4C7-B1FF-BB44-50C5413A531F}"/>
              </a:ext>
            </a:extLst>
          </p:cNvPr>
          <p:cNvSpPr/>
          <p:nvPr/>
        </p:nvSpPr>
        <p:spPr>
          <a:xfrm>
            <a:off x="1257301" y="573989"/>
            <a:ext cx="447590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371600"/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3E981DD-1A40-74F1-F307-787BAE72B053}"/>
              </a:ext>
            </a:extLst>
          </p:cNvPr>
          <p:cNvSpPr txBox="1">
            <a:spLocks/>
          </p:cNvSpPr>
          <p:nvPr/>
        </p:nvSpPr>
        <p:spPr>
          <a:xfrm>
            <a:off x="1257300" y="1962593"/>
            <a:ext cx="16238220" cy="68732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 defTabSz="1371600">
              <a:spcBef>
                <a:spcPts val="1500"/>
              </a:spcBef>
              <a:buFont typeface="+mj-lt"/>
              <a:buAutoNum type="arabicPeriod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Banerjee,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Syagnik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Hemphill, Thomas, and Longstreet, Phil, "Wearable devices and healthcare: Data sharing and privacy," The Information Society, vol. 34, no. 1, 2018, pp. 49-57. </a:t>
            </a:r>
          </a:p>
          <a:p>
            <a:pPr marL="514350" indent="-514350" algn="just" defTabSz="1371600">
              <a:spcBef>
                <a:spcPts val="1500"/>
              </a:spcBef>
              <a:buFont typeface="+mj-lt"/>
              <a:buAutoNum type="arabicPeriod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 Heyat,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Mdbelal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Siddiqui, Mohd Maroof, "Recording of EEG, ECG, EMG signal," International Journal of Advanced Research in Computer Science and Software Engineering, vol. 9, no. 1, 2019, pp. 1-5.</a:t>
            </a:r>
          </a:p>
          <a:p>
            <a:pPr marL="514350" indent="-514350" algn="just" defTabSz="1371600">
              <a:spcBef>
                <a:spcPts val="1500"/>
              </a:spcBef>
              <a:buFont typeface="+mj-lt"/>
              <a:buAutoNum type="arabicPeriod"/>
            </a:pP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Caixeiro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T.,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Čale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and Coutinho, C., "Wearable Devices for Health Remote Monitor System," Proceedings of the 2022 IEEE International Conference on E-Health and Bioengineering (EHB), 2022, pp. 1-4.</a:t>
            </a:r>
          </a:p>
          <a:p>
            <a:pPr marL="514350" indent="-514350" algn="just" defTabSz="1371600">
              <a:spcBef>
                <a:spcPts val="1500"/>
              </a:spcBef>
              <a:buFont typeface="+mj-lt"/>
              <a:buAutoNum type="arabicPeriod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Canali, Stefano,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Schiaffonati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Viola, and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Aliverti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Andrea, "Challenges and recommendations for wearable devices in digital health: Data quality, interoperability, health equity, fairness," PLOS Digital Health, vol. 1, no. 1, 2022.</a:t>
            </a:r>
          </a:p>
          <a:p>
            <a:pPr marL="514350" indent="-514350" algn="just" defTabSz="1371600">
              <a:spcBef>
                <a:spcPts val="1500"/>
              </a:spcBef>
              <a:buFont typeface="+mj-lt"/>
              <a:buAutoNum type="arabicPeriod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Debnath, P., Mahmud, A., Hossain, A. K., and Rahman, S. M. I., "Design and Application of IoT‐Based Real-Time Patient Telemonitoring System Using Biomedical Sensor Network," International Journal of Advanced Computer Science and Applications, vol. 10, no. 1, 2019, pp. 533-538.</a:t>
            </a:r>
          </a:p>
          <a:p>
            <a:pPr marL="514350" indent="-514350" algn="just" defTabSz="1371600">
              <a:spcBef>
                <a:spcPts val="1500"/>
              </a:spcBef>
              <a:buFont typeface="+mj-lt"/>
              <a:buAutoNum type="arabicPeriod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Faisal, Ilham Arun,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Purboyo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Tito Waluyo, and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Ansori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Anton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Siswo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Raharjo, "A Review of Accelerometer Sensor and Gyroscope Sensor in IMU Sensors on Motion Capture," Journal of Engineering and Applied Sciences, vol. 14, no. 2, 2019, pp. 452-459.</a:t>
            </a:r>
          </a:p>
        </p:txBody>
      </p:sp>
    </p:spTree>
    <p:extLst>
      <p:ext uri="{BB962C8B-B14F-4D97-AF65-F5344CB8AC3E}">
        <p14:creationId xmlns:p14="http://schemas.microsoft.com/office/powerpoint/2010/main" val="1978769011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4B2CC-C342-0E4B-2948-A0557149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8410FB0-E734-C1B7-7545-A0FD8F085BCD}"/>
              </a:ext>
            </a:extLst>
          </p:cNvPr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E65C0B-4E12-4C77-0978-22C7C14690E1}"/>
                </a:ext>
              </a:extLst>
            </p:cNvPr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88C5E84-629D-23F8-1A39-B97FF078841F}"/>
              </a:ext>
            </a:extLst>
          </p:cNvPr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AD3E129-1EBF-667E-B626-D8A670922BDE}"/>
                </a:ext>
              </a:extLst>
            </p:cNvPr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9208E753-9E40-F8C8-49A5-0C29E56823F3}"/>
              </a:ext>
            </a:extLst>
          </p:cNvPr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DCB8F5F-763B-2D5C-8950-DDF3A8524F16}"/>
                </a:ext>
              </a:extLst>
            </p:cNvPr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1D081B8-1678-AEC4-43BC-EBAB00402E3C}"/>
              </a:ext>
            </a:extLst>
          </p:cNvPr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D5A3520-BA5D-1387-3FD6-6DE5AC2E51C8}"/>
                </a:ext>
              </a:extLst>
            </p:cNvPr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DFAE61D-9F9E-9DC7-5C86-C0770A7C5248}"/>
              </a:ext>
            </a:extLst>
          </p:cNvPr>
          <p:cNvSpPr/>
          <p:nvPr/>
        </p:nvSpPr>
        <p:spPr>
          <a:xfrm>
            <a:off x="1233389" y="631084"/>
            <a:ext cx="44374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371600"/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58A032D1-0E84-5D25-FE71-2654B8AA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3389" y="2053836"/>
            <a:ext cx="15821222" cy="6724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 defTabSz="1371600" eaLnBrk="0" fontAlgn="base" hangingPunct="0">
              <a:spcBef>
                <a:spcPts val="1500"/>
              </a:spcBef>
              <a:buFont typeface="+mj-lt"/>
              <a:buAutoNum type="arabicPeriod" startAt="7"/>
            </a:pP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Jung, Sang-Joong, and Chung, Wan-Young, "Flexible and Scalable Patient's Health Monitoring System in 6LoWPAN," Sensors Letters, vol. 9, no. 2, 2011, pp. 778-785. </a:t>
            </a:r>
          </a:p>
          <a:p>
            <a:pPr marL="514350" indent="-514350" algn="just" defTabSz="1371600" eaLnBrk="0" fontAlgn="base" hangingPunct="0">
              <a:spcBef>
                <a:spcPts val="1500"/>
              </a:spcBef>
              <a:buFont typeface="+mj-lt"/>
              <a:buAutoNum type="arabicPeriod" startAt="7"/>
            </a:pP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Mansor, </a:t>
            </a:r>
            <a:r>
              <a:rPr lang="en-US" alt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Hasmah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Abdul Shukor, Muhammad Helmy, </a:t>
            </a:r>
            <a:r>
              <a:rPr lang="en-US" alt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Meskam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Siti Sarah, </a:t>
            </a:r>
            <a:r>
              <a:rPr lang="en-US" alt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Quraisyia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Nur, and </a:t>
            </a:r>
            <a:r>
              <a:rPr lang="en-US" alt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Zamery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Nasiha Sakinah, "Body Temperature Measurement for Remote Health Monitoring System," in Proceedings of the 2013 IEEE International Conference on Smart Instrumentation, Measurement and Applications (ICSIMA), 2013, pp. 1-5. </a:t>
            </a:r>
          </a:p>
          <a:p>
            <a:pPr marL="514350" indent="-514350" algn="just" defTabSz="1371600" eaLnBrk="0" fontAlgn="base" hangingPunct="0">
              <a:spcBef>
                <a:spcPts val="1500"/>
              </a:spcBef>
              <a:buFont typeface="+mj-lt"/>
              <a:buAutoNum type="arabicPeriod" startAt="7"/>
            </a:pP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Charn Loong, </a:t>
            </a:r>
            <a:r>
              <a:rPr lang="en-US" alt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Reaz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Mamun Bin Ibne, and Chowdhury, Muhammad Enamul Hoque, "A Low Noise Capacitive Electromyography Monitoring System for Remote Healthcare Applications," IEEE Sensors Journal, vol. 19, no. 12, 2019, pp. 4340-4348.</a:t>
            </a:r>
          </a:p>
          <a:p>
            <a:pPr marL="514350" indent="-514350" algn="just" defTabSz="1371600" eaLnBrk="0" fontAlgn="base" hangingPunct="0">
              <a:spcBef>
                <a:spcPts val="1500"/>
              </a:spcBef>
              <a:buFont typeface="+mj-lt"/>
              <a:buAutoNum type="arabicPeriod" startAt="7"/>
            </a:pP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Nishitha, K. L., and Ravi Kumar, R., "Health Monitoring System," International Journal of Innovative Research in Science, Engineering and Technology, vol. 9, no. 3, 2020, pp. 1234-1240.</a:t>
            </a:r>
          </a:p>
          <a:p>
            <a:pPr marL="514350" indent="-514350" algn="just" defTabSz="1371600" eaLnBrk="0" fontAlgn="base" hangingPunct="0">
              <a:spcBef>
                <a:spcPts val="1500"/>
              </a:spcBef>
              <a:buFont typeface="+mj-lt"/>
              <a:buAutoNum type="arabicPeriod" startAt="7"/>
            </a:pPr>
            <a:r>
              <a:rPr lang="en-US" alt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Raorane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</a:t>
            </a:r>
            <a:r>
              <a:rPr lang="en-US" alt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Wadhonkar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Patil, S., and </a:t>
            </a:r>
            <a:r>
              <a:rPr lang="en-US" alt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Borole</a:t>
            </a: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"Health Monitoring System Using Wearable Sensor Network for Workers in Industries," in Proceedings of the 2020 IEEE International Conference on Computing, Power and Communication Technologies (GUCON), 2020, pp. 613-618.</a:t>
            </a:r>
          </a:p>
        </p:txBody>
      </p:sp>
    </p:spTree>
    <p:extLst>
      <p:ext uri="{BB962C8B-B14F-4D97-AF65-F5344CB8AC3E}">
        <p14:creationId xmlns:p14="http://schemas.microsoft.com/office/powerpoint/2010/main" val="2365627742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9DB7-15C8-DFF3-5AF1-FA0EEF83E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A8F45E4-C1F6-DB49-4692-5ECFE5E7906E}"/>
              </a:ext>
            </a:extLst>
          </p:cNvPr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5C12BF-9578-BBFC-289B-6E961612A131}"/>
                </a:ext>
              </a:extLst>
            </p:cNvPr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E706D19-2D88-8F8F-E6D6-2180A6B399F0}"/>
              </a:ext>
            </a:extLst>
          </p:cNvPr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AA8D056-BA9A-E0AB-383B-6B134134F7D6}"/>
                </a:ext>
              </a:extLst>
            </p:cNvPr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037D758-0B12-D9D7-E763-AA2D39BE7ED6}"/>
              </a:ext>
            </a:extLst>
          </p:cNvPr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C94CE5E-E09A-FC2E-50E7-0766CBC08C41}"/>
                </a:ext>
              </a:extLst>
            </p:cNvPr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5375CF5-4010-62C7-0099-322238E5694B}"/>
              </a:ext>
            </a:extLst>
          </p:cNvPr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C76B3C7-6A0E-7332-15BC-63F4C32E0A40}"/>
                </a:ext>
              </a:extLst>
            </p:cNvPr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F9E0365-1B99-792D-65CA-AB857CE395F7}"/>
              </a:ext>
            </a:extLst>
          </p:cNvPr>
          <p:cNvSpPr/>
          <p:nvPr/>
        </p:nvSpPr>
        <p:spPr>
          <a:xfrm>
            <a:off x="1244891" y="719660"/>
            <a:ext cx="44374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371600"/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0763F8-E58B-901B-6C0E-083B886DE90D}"/>
              </a:ext>
            </a:extLst>
          </p:cNvPr>
          <p:cNvSpPr txBox="1">
            <a:spLocks/>
          </p:cNvSpPr>
          <p:nvPr/>
        </p:nvSpPr>
        <p:spPr>
          <a:xfrm>
            <a:off x="1120140" y="2067448"/>
            <a:ext cx="16405860" cy="706131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 defTabSz="1371600">
              <a:spcBef>
                <a:spcPts val="1500"/>
              </a:spcBef>
              <a:buFont typeface="+mj-lt"/>
              <a:buAutoNum type="arabicPeriod" startAt="12"/>
            </a:pPr>
            <a:r>
              <a:rPr lang="en-US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Samuel, M., and Muthukumaran, R., "Patient Health Monitoring System Using IoT," International Journal of Progressive Research in Engineering Management and Science, vol. 3, no. 2, 2023, pp. 45-50.</a:t>
            </a:r>
          </a:p>
          <a:p>
            <a:pPr marL="514350" indent="-514350" algn="just" defTabSz="1371600">
              <a:spcBef>
                <a:spcPts val="1500"/>
              </a:spcBef>
              <a:buFont typeface="+mj-lt"/>
              <a:buAutoNum type="arabicPeriod" startAt="12"/>
            </a:pP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Sardini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Emilio, and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Serpelloni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Mauro, "Instrumented Wearable Belt for Wireless Health Monitoring," Procedia Engineering, vol. 5, 2010, pp. 580-583. </a:t>
            </a:r>
          </a:p>
          <a:p>
            <a:pPr marL="514350" indent="-514350" algn="just" defTabSz="1371600">
              <a:spcBef>
                <a:spcPts val="1500"/>
              </a:spcBef>
              <a:buFont typeface="+mj-lt"/>
              <a:buAutoNum type="arabicPeriod" startAt="12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Sathya, M., Madhan, S., and Jayanthi, K., "Internet of Things (IoT)-Based Health Monitoring System and Challenges," International Journal of Engineering &amp; Technology, vol. 7, no. 1.7, 2018, pp. 175-178. </a:t>
            </a:r>
          </a:p>
          <a:p>
            <a:pPr marL="514350" indent="-514350" algn="just" defTabSz="1371600">
              <a:spcBef>
                <a:spcPts val="1500"/>
              </a:spcBef>
              <a:buFont typeface="+mj-lt"/>
              <a:buAutoNum type="arabicPeriod" startAt="12"/>
            </a:pP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Senthamilarasi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Jansi Rani, J., Vidhya, B., and Aritha, H., "A Smart Patient Health Monitoring System Using IoT," International Journal of Pure and Applied Mathematics, vol. 119, no. 16, 2018, pp. 475-481.</a:t>
            </a:r>
          </a:p>
          <a:p>
            <a:pPr marL="514350" indent="-514350" algn="just" defTabSz="1371600">
              <a:spcBef>
                <a:spcPts val="1500"/>
              </a:spcBef>
              <a:buFont typeface="+mj-lt"/>
              <a:buAutoNum type="arabicPeriod" startAt="12"/>
            </a:pP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Serhani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Mohamed Adel, El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Kassabi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Hadeel T., Ismail, Heba, and Navaz,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Alramzana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Nujum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"ECG Monitoring Systems: Review, Architecture, Processes, and Key Challenges," Sensors, vol. 20, no. 6, 2020, article 1796.</a:t>
            </a:r>
          </a:p>
          <a:p>
            <a:pPr marL="514350" indent="-514350" algn="just" defTabSz="1371600">
              <a:spcBef>
                <a:spcPts val="1500"/>
              </a:spcBef>
              <a:buFont typeface="+mj-lt"/>
              <a:buAutoNum type="arabicPeriod" startAt="12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Sui,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Yongkun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Ahn,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Chanmin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Ahn, Chong H., "A New Smart Fall-Down Detector for Senior Healthcare System Using Inertial Microsensors," in Proceedings of the 36th Annual International Conference of the IEEE Engineering in Medicine and Biology Society (EMBC), 2014, pp. 2591-2594.</a:t>
            </a:r>
          </a:p>
        </p:txBody>
      </p:sp>
    </p:spTree>
    <p:extLst>
      <p:ext uri="{BB962C8B-B14F-4D97-AF65-F5344CB8AC3E}">
        <p14:creationId xmlns:p14="http://schemas.microsoft.com/office/powerpoint/2010/main" val="2113593652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050" y="9739312"/>
            <a:ext cx="14557076" cy="547688"/>
            <a:chOff x="0" y="0"/>
            <a:chExt cx="19409434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09411" cy="730250"/>
            </a:xfrm>
            <a:custGeom>
              <a:avLst/>
              <a:gdLst/>
              <a:ahLst/>
              <a:cxnLst/>
              <a:rect l="l" t="t" r="r" b="b"/>
              <a:pathLst>
                <a:path w="19409411" h="730250">
                  <a:moveTo>
                    <a:pt x="0" y="0"/>
                  </a:moveTo>
                  <a:lnTo>
                    <a:pt x="19409411" y="0"/>
                  </a:lnTo>
                  <a:lnTo>
                    <a:pt x="19409411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557074" y="0"/>
            <a:ext cx="3730926" cy="547688"/>
            <a:chOff x="0" y="0"/>
            <a:chExt cx="4974568" cy="730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74590" cy="730250"/>
            </a:xfrm>
            <a:custGeom>
              <a:avLst/>
              <a:gdLst/>
              <a:ahLst/>
              <a:cxnLst/>
              <a:rect l="l" t="t" r="r" b="b"/>
              <a:pathLst>
                <a:path w="4974590" h="730250">
                  <a:moveTo>
                    <a:pt x="0" y="0"/>
                  </a:moveTo>
                  <a:lnTo>
                    <a:pt x="4974590" y="0"/>
                  </a:lnTo>
                  <a:lnTo>
                    <a:pt x="497459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1E417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0024"/>
            <a:ext cx="3086100" cy="259288"/>
            <a:chOff x="0" y="0"/>
            <a:chExt cx="4114800" cy="3457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14800" cy="345694"/>
            </a:xfrm>
            <a:custGeom>
              <a:avLst/>
              <a:gdLst/>
              <a:ahLst/>
              <a:cxnLst/>
              <a:rect l="l" t="t" r="r" b="b"/>
              <a:pathLst>
                <a:path w="4114800" h="345694">
                  <a:moveTo>
                    <a:pt x="0" y="0"/>
                  </a:moveTo>
                  <a:lnTo>
                    <a:pt x="4114800" y="0"/>
                  </a:lnTo>
                  <a:lnTo>
                    <a:pt x="4114800" y="345694"/>
                  </a:lnTo>
                  <a:lnTo>
                    <a:pt x="0" y="345694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57300" cy="1241439"/>
            <a:chOff x="0" y="0"/>
            <a:chExt cx="1676400" cy="16552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6400" cy="1655191"/>
            </a:xfrm>
            <a:custGeom>
              <a:avLst/>
              <a:gdLst/>
              <a:ahLst/>
              <a:cxnLst/>
              <a:rect l="l" t="t" r="r" b="b"/>
              <a:pathLst>
                <a:path w="1676400" h="1655191">
                  <a:moveTo>
                    <a:pt x="0" y="0"/>
                  </a:moveTo>
                  <a:lnTo>
                    <a:pt x="1676400" y="0"/>
                  </a:lnTo>
                  <a:lnTo>
                    <a:pt x="1676400" y="1655191"/>
                  </a:lnTo>
                  <a:lnTo>
                    <a:pt x="0" y="1655191"/>
                  </a:lnTo>
                  <a:close/>
                </a:path>
              </a:pathLst>
            </a:custGeom>
            <a:solidFill>
              <a:srgbClr val="FFCC2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370999" y="4499278"/>
            <a:ext cx="10116030" cy="1174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000066"/>
                </a:solidFill>
                <a:latin typeface="Cambria Bold"/>
                <a:ea typeface="Cambria Bold"/>
                <a:cs typeface="Cambria Bold"/>
                <a:sym typeface="Cambria Bold"/>
              </a:rPr>
              <a:t>THANK 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02261" y="9732461"/>
            <a:ext cx="887619" cy="417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37/17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1717</TotalTime>
  <Words>1815</Words>
  <Application>Microsoft Office PowerPoint</Application>
  <PresentationFormat>Custom</PresentationFormat>
  <Paragraphs>172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Times New Roman</vt:lpstr>
      <vt:lpstr>Calibri</vt:lpstr>
      <vt:lpstr>Cambria Bold</vt:lpstr>
      <vt:lpstr>Wingdings</vt:lpstr>
      <vt:lpstr>Times New Roman Bold</vt:lpstr>
      <vt:lpstr>Franklin Gothic Book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Miniproject 1  Review PPT template (3).pptx</dc:title>
  <dc:creator>NIHAL AHAMED</dc:creator>
  <cp:lastModifiedBy>Jhospin D</cp:lastModifiedBy>
  <cp:revision>15</cp:revision>
  <dcterms:created xsi:type="dcterms:W3CDTF">2006-08-16T00:00:00Z</dcterms:created>
  <dcterms:modified xsi:type="dcterms:W3CDTF">2026-10-15T05:26:34Z</dcterms:modified>
  <dc:identifier>DAGX3r7AGw0</dc:identifier>
</cp:coreProperties>
</file>